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Canva Sans Bold" charset="1" panose="020B0803030501040103"/>
      <p:regular r:id="rId12"/>
    </p:embeddedFont>
    <p:embeddedFont>
      <p:font typeface="Poppins" charset="1" panose="00000500000000000000"/>
      <p:regular r:id="rId13"/>
    </p:embeddedFont>
    <p:embeddedFont>
      <p:font typeface="Poppins Semi-Bold" charset="1" panose="000007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83240">
            <a:off x="-2831859" y="-1228627"/>
            <a:ext cx="12703748" cy="12781125"/>
            <a:chOff x="0" y="0"/>
            <a:chExt cx="3345843" cy="33662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5843" cy="3366222"/>
            </a:xfrm>
            <a:custGeom>
              <a:avLst/>
              <a:gdLst/>
              <a:ahLst/>
              <a:cxnLst/>
              <a:rect r="r" b="b" t="t" l="l"/>
              <a:pathLst>
                <a:path h="3366222" w="3345843">
                  <a:moveTo>
                    <a:pt x="31080" y="0"/>
                  </a:moveTo>
                  <a:lnTo>
                    <a:pt x="3314763" y="0"/>
                  </a:lnTo>
                  <a:cubicBezTo>
                    <a:pt x="3331928" y="0"/>
                    <a:pt x="3345843" y="13915"/>
                    <a:pt x="3345843" y="31080"/>
                  </a:cubicBezTo>
                  <a:lnTo>
                    <a:pt x="3345843" y="3335142"/>
                  </a:lnTo>
                  <a:cubicBezTo>
                    <a:pt x="3345843" y="3352307"/>
                    <a:pt x="3331928" y="3366222"/>
                    <a:pt x="3314763" y="3366222"/>
                  </a:cubicBezTo>
                  <a:lnTo>
                    <a:pt x="31080" y="3366222"/>
                  </a:lnTo>
                  <a:cubicBezTo>
                    <a:pt x="13915" y="3366222"/>
                    <a:pt x="0" y="3352307"/>
                    <a:pt x="0" y="3335142"/>
                  </a:cubicBezTo>
                  <a:lnTo>
                    <a:pt x="0" y="31080"/>
                  </a:lnTo>
                  <a:cubicBezTo>
                    <a:pt x="0" y="13915"/>
                    <a:pt x="13915" y="0"/>
                    <a:pt x="310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45843" cy="3423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80359">
            <a:off x="12177107" y="-5082193"/>
            <a:ext cx="12221786" cy="12221786"/>
            <a:chOff x="0" y="0"/>
            <a:chExt cx="3218907" cy="32189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8907" cy="3218907"/>
            </a:xfrm>
            <a:custGeom>
              <a:avLst/>
              <a:gdLst/>
              <a:ahLst/>
              <a:cxnLst/>
              <a:rect r="r" b="b" t="t" l="l"/>
              <a:pathLst>
                <a:path h="3218907" w="3218907">
                  <a:moveTo>
                    <a:pt x="32306" y="0"/>
                  </a:moveTo>
                  <a:lnTo>
                    <a:pt x="3186601" y="0"/>
                  </a:lnTo>
                  <a:cubicBezTo>
                    <a:pt x="3195169" y="0"/>
                    <a:pt x="3203386" y="3404"/>
                    <a:pt x="3209444" y="9462"/>
                  </a:cubicBezTo>
                  <a:cubicBezTo>
                    <a:pt x="3215503" y="15521"/>
                    <a:pt x="3218907" y="23738"/>
                    <a:pt x="3218907" y="32306"/>
                  </a:cubicBezTo>
                  <a:lnTo>
                    <a:pt x="3218907" y="3186601"/>
                  </a:lnTo>
                  <a:cubicBezTo>
                    <a:pt x="3218907" y="3204443"/>
                    <a:pt x="3204443" y="3218907"/>
                    <a:pt x="3186601" y="3218907"/>
                  </a:cubicBezTo>
                  <a:lnTo>
                    <a:pt x="32306" y="3218907"/>
                  </a:lnTo>
                  <a:cubicBezTo>
                    <a:pt x="14464" y="3218907"/>
                    <a:pt x="0" y="3204443"/>
                    <a:pt x="0" y="3186601"/>
                  </a:cubicBezTo>
                  <a:lnTo>
                    <a:pt x="0" y="32306"/>
                  </a:lnTo>
                  <a:cubicBezTo>
                    <a:pt x="0" y="14464"/>
                    <a:pt x="14464" y="0"/>
                    <a:pt x="323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218907" cy="327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780359">
            <a:off x="16151448" y="-2297340"/>
            <a:ext cx="12221786" cy="12221786"/>
            <a:chOff x="0" y="0"/>
            <a:chExt cx="3218907" cy="32189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18907" cy="3218907"/>
            </a:xfrm>
            <a:custGeom>
              <a:avLst/>
              <a:gdLst/>
              <a:ahLst/>
              <a:cxnLst/>
              <a:rect r="r" b="b" t="t" l="l"/>
              <a:pathLst>
                <a:path h="3218907" w="3218907">
                  <a:moveTo>
                    <a:pt x="32306" y="0"/>
                  </a:moveTo>
                  <a:lnTo>
                    <a:pt x="3186601" y="0"/>
                  </a:lnTo>
                  <a:cubicBezTo>
                    <a:pt x="3195169" y="0"/>
                    <a:pt x="3203386" y="3404"/>
                    <a:pt x="3209444" y="9462"/>
                  </a:cubicBezTo>
                  <a:cubicBezTo>
                    <a:pt x="3215503" y="15521"/>
                    <a:pt x="3218907" y="23738"/>
                    <a:pt x="3218907" y="32306"/>
                  </a:cubicBezTo>
                  <a:lnTo>
                    <a:pt x="3218907" y="3186601"/>
                  </a:lnTo>
                  <a:cubicBezTo>
                    <a:pt x="3218907" y="3204443"/>
                    <a:pt x="3204443" y="3218907"/>
                    <a:pt x="3186601" y="3218907"/>
                  </a:cubicBezTo>
                  <a:lnTo>
                    <a:pt x="32306" y="3218907"/>
                  </a:lnTo>
                  <a:cubicBezTo>
                    <a:pt x="14464" y="3218907"/>
                    <a:pt x="0" y="3204443"/>
                    <a:pt x="0" y="3186601"/>
                  </a:cubicBezTo>
                  <a:lnTo>
                    <a:pt x="0" y="32306"/>
                  </a:lnTo>
                  <a:cubicBezTo>
                    <a:pt x="0" y="14464"/>
                    <a:pt x="14464" y="0"/>
                    <a:pt x="323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218907" cy="327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3757282"/>
            <a:ext cx="8619553" cy="138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3"/>
              </a:lnSpc>
              <a:spcBef>
                <a:spcPct val="0"/>
              </a:spcBef>
            </a:pPr>
            <a:r>
              <a:rPr lang="en-US" b="true" sz="387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SEARCH ADS: B2B LEAD GEN STRATEGY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9935" y="5057160"/>
            <a:ext cx="8619553" cy="61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7"/>
              </a:lnSpc>
              <a:spcBef>
                <a:spcPct val="0"/>
              </a:spcBef>
            </a:pPr>
            <a:r>
              <a:rPr lang="en-US" b="true" sz="33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GULF LEADERSHIP INSTITUTE | RIYADH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71168" cy="10287000"/>
          </a:xfrm>
          <a:custGeom>
            <a:avLst/>
            <a:gdLst/>
            <a:ahLst/>
            <a:cxnLst/>
            <a:rect r="r" b="b" t="t" l="l"/>
            <a:pathLst>
              <a:path h="10287000" w="8171168">
                <a:moveTo>
                  <a:pt x="0" y="0"/>
                </a:moveTo>
                <a:lnTo>
                  <a:pt x="8171168" y="0"/>
                </a:lnTo>
                <a:lnTo>
                  <a:pt x="81711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3" t="-1065" r="-89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36786" y="1874309"/>
            <a:ext cx="9751214" cy="206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4"/>
              </a:lnSpc>
            </a:pPr>
            <a:r>
              <a:rPr lang="en-US" sz="19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Ready to elevate your organization's leadership?</a:t>
            </a:r>
          </a:p>
          <a:p>
            <a:pPr algn="ctr">
              <a:lnSpc>
                <a:spcPts val="2734"/>
              </a:lnSpc>
            </a:pPr>
            <a:r>
              <a:rPr lang="en-US" sz="19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Join the Gulf Leadership Institute's exclusive 3-day Masterclass in Riyadh. Designed specifically for C-Suite executives and HR Directors to drive strategic growth.</a:t>
            </a:r>
          </a:p>
          <a:p>
            <a:pPr algn="ctr">
              <a:lnSpc>
                <a:spcPts val="2734"/>
              </a:lnSpc>
            </a:pPr>
            <a:r>
              <a:rPr lang="en-US" sz="19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📥 Download the full course syllabus here</a:t>
            </a:r>
          </a:p>
          <a:p>
            <a:pPr algn="ctr">
              <a:lnSpc>
                <a:spcPts val="273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536786" y="4324755"/>
            <a:ext cx="9751214" cy="230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ar-EG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rtl val="true"/>
              </a:rPr>
              <a:t>انضم إلى الفصل التدريبي المكثف لمدة </a:t>
            </a: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lang="ar-EG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rtl val="true"/>
              </a:rPr>
              <a:t> أيام من معهد الخليج للقيادة في الرياض.</a:t>
            </a:r>
            <a:r>
              <a:rPr lang="ar-EG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rtl val="true"/>
              </a:rPr>
              <a:t> مصمم خصيصاً للمديرين التنفيذيين ومدراء الموارد البشرية لدفع النمو الاستراتيجي</a:t>
            </a: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📥 </a:t>
            </a:r>
            <a:r>
              <a:rPr lang="ar-EG" b="true" sz="2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rtl val="true"/>
              </a:rPr>
              <a:t>حمل المنهج الدراسي الكامل هنا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83240">
            <a:off x="-506566" y="-1247063"/>
            <a:ext cx="12703748" cy="12781125"/>
            <a:chOff x="0" y="0"/>
            <a:chExt cx="3345843" cy="33662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5843" cy="3366222"/>
            </a:xfrm>
            <a:custGeom>
              <a:avLst/>
              <a:gdLst/>
              <a:ahLst/>
              <a:cxnLst/>
              <a:rect r="r" b="b" t="t" l="l"/>
              <a:pathLst>
                <a:path h="3366222" w="3345843">
                  <a:moveTo>
                    <a:pt x="31080" y="0"/>
                  </a:moveTo>
                  <a:lnTo>
                    <a:pt x="3314763" y="0"/>
                  </a:lnTo>
                  <a:cubicBezTo>
                    <a:pt x="3331928" y="0"/>
                    <a:pt x="3345843" y="13915"/>
                    <a:pt x="3345843" y="31080"/>
                  </a:cubicBezTo>
                  <a:lnTo>
                    <a:pt x="3345843" y="3335142"/>
                  </a:lnTo>
                  <a:cubicBezTo>
                    <a:pt x="3345843" y="3352307"/>
                    <a:pt x="3331928" y="3366222"/>
                    <a:pt x="3314763" y="3366222"/>
                  </a:cubicBezTo>
                  <a:lnTo>
                    <a:pt x="31080" y="3366222"/>
                  </a:lnTo>
                  <a:cubicBezTo>
                    <a:pt x="13915" y="3366222"/>
                    <a:pt x="0" y="3352307"/>
                    <a:pt x="0" y="3335142"/>
                  </a:cubicBezTo>
                  <a:lnTo>
                    <a:pt x="0" y="31080"/>
                  </a:lnTo>
                  <a:cubicBezTo>
                    <a:pt x="0" y="13915"/>
                    <a:pt x="13915" y="0"/>
                    <a:pt x="310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45843" cy="3423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80359">
            <a:off x="14325148" y="-5195693"/>
            <a:ext cx="12221786" cy="12221786"/>
            <a:chOff x="0" y="0"/>
            <a:chExt cx="3218907" cy="32189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8907" cy="3218907"/>
            </a:xfrm>
            <a:custGeom>
              <a:avLst/>
              <a:gdLst/>
              <a:ahLst/>
              <a:cxnLst/>
              <a:rect r="r" b="b" t="t" l="l"/>
              <a:pathLst>
                <a:path h="3218907" w="3218907">
                  <a:moveTo>
                    <a:pt x="32306" y="0"/>
                  </a:moveTo>
                  <a:lnTo>
                    <a:pt x="3186601" y="0"/>
                  </a:lnTo>
                  <a:cubicBezTo>
                    <a:pt x="3195169" y="0"/>
                    <a:pt x="3203386" y="3404"/>
                    <a:pt x="3209444" y="9462"/>
                  </a:cubicBezTo>
                  <a:cubicBezTo>
                    <a:pt x="3215503" y="15521"/>
                    <a:pt x="3218907" y="23738"/>
                    <a:pt x="3218907" y="32306"/>
                  </a:cubicBezTo>
                  <a:lnTo>
                    <a:pt x="3218907" y="3186601"/>
                  </a:lnTo>
                  <a:cubicBezTo>
                    <a:pt x="3218907" y="3204443"/>
                    <a:pt x="3204443" y="3218907"/>
                    <a:pt x="3186601" y="3218907"/>
                  </a:cubicBezTo>
                  <a:lnTo>
                    <a:pt x="32306" y="3218907"/>
                  </a:lnTo>
                  <a:cubicBezTo>
                    <a:pt x="14464" y="3218907"/>
                    <a:pt x="0" y="3204443"/>
                    <a:pt x="0" y="3186601"/>
                  </a:cubicBezTo>
                  <a:lnTo>
                    <a:pt x="0" y="32306"/>
                  </a:lnTo>
                  <a:cubicBezTo>
                    <a:pt x="0" y="14464"/>
                    <a:pt x="14464" y="0"/>
                    <a:pt x="323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218907" cy="327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16244" y="-703033"/>
            <a:ext cx="3086100" cy="11750777"/>
            <a:chOff x="0" y="0"/>
            <a:chExt cx="812800" cy="3094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3094855"/>
            </a:xfrm>
            <a:custGeom>
              <a:avLst/>
              <a:gdLst/>
              <a:ahLst/>
              <a:cxnLst/>
              <a:rect r="r" b="b" t="t" l="l"/>
              <a:pathLst>
                <a:path h="309485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66914"/>
                  </a:lnTo>
                  <a:cubicBezTo>
                    <a:pt x="812800" y="3000846"/>
                    <a:pt x="799321" y="3033388"/>
                    <a:pt x="775327" y="3057382"/>
                  </a:cubicBezTo>
                  <a:cubicBezTo>
                    <a:pt x="751333" y="3081375"/>
                    <a:pt x="718791" y="3094855"/>
                    <a:pt x="684859" y="3094855"/>
                  </a:cubicBezTo>
                  <a:lnTo>
                    <a:pt x="127941" y="3094855"/>
                  </a:lnTo>
                  <a:cubicBezTo>
                    <a:pt x="94009" y="3094855"/>
                    <a:pt x="61467" y="3081375"/>
                    <a:pt x="37473" y="3057382"/>
                  </a:cubicBezTo>
                  <a:cubicBezTo>
                    <a:pt x="13479" y="3033388"/>
                    <a:pt x="0" y="3000846"/>
                    <a:pt x="0" y="296691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315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41942">
            <a:off x="10376034" y="5396158"/>
            <a:ext cx="10019412" cy="1001941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204" y="19204"/>
              <a:ext cx="774393" cy="774393"/>
            </a:xfrm>
            <a:custGeom>
              <a:avLst/>
              <a:gdLst/>
              <a:ahLst/>
              <a:cxnLst/>
              <a:rect r="r" b="b" t="t" l="l"/>
              <a:pathLst>
                <a:path h="774393" w="774393">
                  <a:moveTo>
                    <a:pt x="419979" y="13579"/>
                  </a:moveTo>
                  <a:lnTo>
                    <a:pt x="760813" y="354413"/>
                  </a:lnTo>
                  <a:cubicBezTo>
                    <a:pt x="769508" y="363108"/>
                    <a:pt x="774392" y="374900"/>
                    <a:pt x="774392" y="387196"/>
                  </a:cubicBezTo>
                  <a:cubicBezTo>
                    <a:pt x="774392" y="399492"/>
                    <a:pt x="769508" y="411284"/>
                    <a:pt x="760813" y="419979"/>
                  </a:cubicBezTo>
                  <a:lnTo>
                    <a:pt x="419979" y="760813"/>
                  </a:lnTo>
                  <a:cubicBezTo>
                    <a:pt x="411284" y="769508"/>
                    <a:pt x="399492" y="774392"/>
                    <a:pt x="387196" y="774392"/>
                  </a:cubicBezTo>
                  <a:cubicBezTo>
                    <a:pt x="374900" y="774392"/>
                    <a:pt x="363108" y="769508"/>
                    <a:pt x="354413" y="760813"/>
                  </a:cubicBezTo>
                  <a:lnTo>
                    <a:pt x="13579" y="419979"/>
                  </a:lnTo>
                  <a:cubicBezTo>
                    <a:pt x="4884" y="411284"/>
                    <a:pt x="0" y="399492"/>
                    <a:pt x="0" y="387196"/>
                  </a:cubicBezTo>
                  <a:cubicBezTo>
                    <a:pt x="0" y="374900"/>
                    <a:pt x="4884" y="363108"/>
                    <a:pt x="13579" y="354413"/>
                  </a:cubicBezTo>
                  <a:lnTo>
                    <a:pt x="354413" y="13579"/>
                  </a:lnTo>
                  <a:cubicBezTo>
                    <a:pt x="363108" y="4884"/>
                    <a:pt x="374900" y="0"/>
                    <a:pt x="387196" y="0"/>
                  </a:cubicBezTo>
                  <a:cubicBezTo>
                    <a:pt x="399492" y="0"/>
                    <a:pt x="411284" y="4884"/>
                    <a:pt x="419979" y="13579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-2780359">
            <a:off x="18200732" y="-2628232"/>
            <a:ext cx="12221786" cy="12221786"/>
            <a:chOff x="0" y="0"/>
            <a:chExt cx="3218907" cy="32189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8907" cy="3218907"/>
            </a:xfrm>
            <a:custGeom>
              <a:avLst/>
              <a:gdLst/>
              <a:ahLst/>
              <a:cxnLst/>
              <a:rect r="r" b="b" t="t" l="l"/>
              <a:pathLst>
                <a:path h="3218907" w="3218907">
                  <a:moveTo>
                    <a:pt x="32306" y="0"/>
                  </a:moveTo>
                  <a:lnTo>
                    <a:pt x="3186601" y="0"/>
                  </a:lnTo>
                  <a:cubicBezTo>
                    <a:pt x="3195169" y="0"/>
                    <a:pt x="3203386" y="3404"/>
                    <a:pt x="3209444" y="9462"/>
                  </a:cubicBezTo>
                  <a:cubicBezTo>
                    <a:pt x="3215503" y="15521"/>
                    <a:pt x="3218907" y="23738"/>
                    <a:pt x="3218907" y="32306"/>
                  </a:cubicBezTo>
                  <a:lnTo>
                    <a:pt x="3218907" y="3186601"/>
                  </a:lnTo>
                  <a:cubicBezTo>
                    <a:pt x="3218907" y="3204443"/>
                    <a:pt x="3204443" y="3218907"/>
                    <a:pt x="3186601" y="3218907"/>
                  </a:cubicBezTo>
                  <a:lnTo>
                    <a:pt x="32306" y="3218907"/>
                  </a:lnTo>
                  <a:cubicBezTo>
                    <a:pt x="14464" y="3218907"/>
                    <a:pt x="0" y="3204443"/>
                    <a:pt x="0" y="3186601"/>
                  </a:cubicBezTo>
                  <a:lnTo>
                    <a:pt x="0" y="32306"/>
                  </a:lnTo>
                  <a:cubicBezTo>
                    <a:pt x="0" y="14464"/>
                    <a:pt x="14464" y="0"/>
                    <a:pt x="323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218907" cy="327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443603"/>
            <a:ext cx="7012484" cy="105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6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argeting Strategy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8776" y="3012761"/>
            <a:ext cx="4962724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ocation: 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Riyadh, KSA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6806" y="3706563"/>
            <a:ext cx="9609523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Match Types: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Exact Match and Phrase Match           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6806" y="4544695"/>
            <a:ext cx="9897028" cy="11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 keywords: 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Executive leadership course riyadh, corporate training for managers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6806" y="5780405"/>
            <a:ext cx="10593388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</a:t>
            </a: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gative Keywords: 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-free, -jobs, -salary, -student</a:t>
            </a:r>
            <a:r>
              <a:rPr lang="en-US" b="true" sz="3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83240">
            <a:off x="-693343" y="-1332601"/>
            <a:ext cx="12703748" cy="12781125"/>
            <a:chOff x="0" y="0"/>
            <a:chExt cx="3345843" cy="33662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5843" cy="3366222"/>
            </a:xfrm>
            <a:custGeom>
              <a:avLst/>
              <a:gdLst/>
              <a:ahLst/>
              <a:cxnLst/>
              <a:rect r="r" b="b" t="t" l="l"/>
              <a:pathLst>
                <a:path h="3366222" w="3345843">
                  <a:moveTo>
                    <a:pt x="31080" y="0"/>
                  </a:moveTo>
                  <a:lnTo>
                    <a:pt x="3314763" y="0"/>
                  </a:lnTo>
                  <a:cubicBezTo>
                    <a:pt x="3331928" y="0"/>
                    <a:pt x="3345843" y="13915"/>
                    <a:pt x="3345843" y="31080"/>
                  </a:cubicBezTo>
                  <a:lnTo>
                    <a:pt x="3345843" y="3335142"/>
                  </a:lnTo>
                  <a:cubicBezTo>
                    <a:pt x="3345843" y="3352307"/>
                    <a:pt x="3331928" y="3366222"/>
                    <a:pt x="3314763" y="3366222"/>
                  </a:cubicBezTo>
                  <a:lnTo>
                    <a:pt x="31080" y="3366222"/>
                  </a:lnTo>
                  <a:cubicBezTo>
                    <a:pt x="13915" y="3366222"/>
                    <a:pt x="0" y="3352307"/>
                    <a:pt x="0" y="3335142"/>
                  </a:cubicBezTo>
                  <a:lnTo>
                    <a:pt x="0" y="31080"/>
                  </a:lnTo>
                  <a:cubicBezTo>
                    <a:pt x="0" y="13915"/>
                    <a:pt x="13915" y="0"/>
                    <a:pt x="310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45843" cy="3423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80359">
            <a:off x="14325148" y="-5195693"/>
            <a:ext cx="12221786" cy="12221786"/>
            <a:chOff x="0" y="0"/>
            <a:chExt cx="3218907" cy="32189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8907" cy="3218907"/>
            </a:xfrm>
            <a:custGeom>
              <a:avLst/>
              <a:gdLst/>
              <a:ahLst/>
              <a:cxnLst/>
              <a:rect r="r" b="b" t="t" l="l"/>
              <a:pathLst>
                <a:path h="3218907" w="3218907">
                  <a:moveTo>
                    <a:pt x="32306" y="0"/>
                  </a:moveTo>
                  <a:lnTo>
                    <a:pt x="3186601" y="0"/>
                  </a:lnTo>
                  <a:cubicBezTo>
                    <a:pt x="3195169" y="0"/>
                    <a:pt x="3203386" y="3404"/>
                    <a:pt x="3209444" y="9462"/>
                  </a:cubicBezTo>
                  <a:cubicBezTo>
                    <a:pt x="3215503" y="15521"/>
                    <a:pt x="3218907" y="23738"/>
                    <a:pt x="3218907" y="32306"/>
                  </a:cubicBezTo>
                  <a:lnTo>
                    <a:pt x="3218907" y="3186601"/>
                  </a:lnTo>
                  <a:cubicBezTo>
                    <a:pt x="3218907" y="3204443"/>
                    <a:pt x="3204443" y="3218907"/>
                    <a:pt x="3186601" y="3218907"/>
                  </a:cubicBezTo>
                  <a:lnTo>
                    <a:pt x="32306" y="3218907"/>
                  </a:lnTo>
                  <a:cubicBezTo>
                    <a:pt x="14464" y="3218907"/>
                    <a:pt x="0" y="3204443"/>
                    <a:pt x="0" y="3186601"/>
                  </a:cubicBezTo>
                  <a:lnTo>
                    <a:pt x="0" y="32306"/>
                  </a:lnTo>
                  <a:cubicBezTo>
                    <a:pt x="0" y="14464"/>
                    <a:pt x="14464" y="0"/>
                    <a:pt x="323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218907" cy="327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16244" y="-703033"/>
            <a:ext cx="3086100" cy="11750777"/>
            <a:chOff x="0" y="0"/>
            <a:chExt cx="812800" cy="3094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3094855"/>
            </a:xfrm>
            <a:custGeom>
              <a:avLst/>
              <a:gdLst/>
              <a:ahLst/>
              <a:cxnLst/>
              <a:rect r="r" b="b" t="t" l="l"/>
              <a:pathLst>
                <a:path h="309485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66914"/>
                  </a:lnTo>
                  <a:cubicBezTo>
                    <a:pt x="812800" y="3000846"/>
                    <a:pt x="799321" y="3033388"/>
                    <a:pt x="775327" y="3057382"/>
                  </a:cubicBezTo>
                  <a:cubicBezTo>
                    <a:pt x="751333" y="3081375"/>
                    <a:pt x="718791" y="3094855"/>
                    <a:pt x="684859" y="3094855"/>
                  </a:cubicBezTo>
                  <a:lnTo>
                    <a:pt x="127941" y="3094855"/>
                  </a:lnTo>
                  <a:cubicBezTo>
                    <a:pt x="94009" y="3094855"/>
                    <a:pt x="61467" y="3081375"/>
                    <a:pt x="37473" y="3057382"/>
                  </a:cubicBezTo>
                  <a:cubicBezTo>
                    <a:pt x="13479" y="3033388"/>
                    <a:pt x="0" y="3000846"/>
                    <a:pt x="0" y="296691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315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41942">
            <a:off x="10376034" y="5396158"/>
            <a:ext cx="10019412" cy="1001941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204" y="19204"/>
              <a:ext cx="774393" cy="774393"/>
            </a:xfrm>
            <a:custGeom>
              <a:avLst/>
              <a:gdLst/>
              <a:ahLst/>
              <a:cxnLst/>
              <a:rect r="r" b="b" t="t" l="l"/>
              <a:pathLst>
                <a:path h="774393" w="774393">
                  <a:moveTo>
                    <a:pt x="419979" y="13579"/>
                  </a:moveTo>
                  <a:lnTo>
                    <a:pt x="760813" y="354413"/>
                  </a:lnTo>
                  <a:cubicBezTo>
                    <a:pt x="769508" y="363108"/>
                    <a:pt x="774392" y="374900"/>
                    <a:pt x="774392" y="387196"/>
                  </a:cubicBezTo>
                  <a:cubicBezTo>
                    <a:pt x="774392" y="399492"/>
                    <a:pt x="769508" y="411284"/>
                    <a:pt x="760813" y="419979"/>
                  </a:cubicBezTo>
                  <a:lnTo>
                    <a:pt x="419979" y="760813"/>
                  </a:lnTo>
                  <a:cubicBezTo>
                    <a:pt x="411284" y="769508"/>
                    <a:pt x="399492" y="774392"/>
                    <a:pt x="387196" y="774392"/>
                  </a:cubicBezTo>
                  <a:cubicBezTo>
                    <a:pt x="374900" y="774392"/>
                    <a:pt x="363108" y="769508"/>
                    <a:pt x="354413" y="760813"/>
                  </a:cubicBezTo>
                  <a:lnTo>
                    <a:pt x="13579" y="419979"/>
                  </a:lnTo>
                  <a:cubicBezTo>
                    <a:pt x="4884" y="411284"/>
                    <a:pt x="0" y="399492"/>
                    <a:pt x="0" y="387196"/>
                  </a:cubicBezTo>
                  <a:cubicBezTo>
                    <a:pt x="0" y="374900"/>
                    <a:pt x="4884" y="363108"/>
                    <a:pt x="13579" y="354413"/>
                  </a:cubicBezTo>
                  <a:lnTo>
                    <a:pt x="354413" y="13579"/>
                  </a:lnTo>
                  <a:cubicBezTo>
                    <a:pt x="363108" y="4884"/>
                    <a:pt x="374900" y="0"/>
                    <a:pt x="387196" y="0"/>
                  </a:cubicBezTo>
                  <a:cubicBezTo>
                    <a:pt x="399492" y="0"/>
                    <a:pt x="411284" y="4884"/>
                    <a:pt x="419979" y="13579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-2780359">
            <a:off x="18200732" y="-2628232"/>
            <a:ext cx="12221786" cy="12221786"/>
            <a:chOff x="0" y="0"/>
            <a:chExt cx="3218907" cy="32189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8907" cy="3218907"/>
            </a:xfrm>
            <a:custGeom>
              <a:avLst/>
              <a:gdLst/>
              <a:ahLst/>
              <a:cxnLst/>
              <a:rect r="r" b="b" t="t" l="l"/>
              <a:pathLst>
                <a:path h="3218907" w="3218907">
                  <a:moveTo>
                    <a:pt x="32306" y="0"/>
                  </a:moveTo>
                  <a:lnTo>
                    <a:pt x="3186601" y="0"/>
                  </a:lnTo>
                  <a:cubicBezTo>
                    <a:pt x="3195169" y="0"/>
                    <a:pt x="3203386" y="3404"/>
                    <a:pt x="3209444" y="9462"/>
                  </a:cubicBezTo>
                  <a:cubicBezTo>
                    <a:pt x="3215503" y="15521"/>
                    <a:pt x="3218907" y="23738"/>
                    <a:pt x="3218907" y="32306"/>
                  </a:cubicBezTo>
                  <a:lnTo>
                    <a:pt x="3218907" y="3186601"/>
                  </a:lnTo>
                  <a:cubicBezTo>
                    <a:pt x="3218907" y="3204443"/>
                    <a:pt x="3204443" y="3218907"/>
                    <a:pt x="3186601" y="3218907"/>
                  </a:cubicBezTo>
                  <a:lnTo>
                    <a:pt x="32306" y="3218907"/>
                  </a:lnTo>
                  <a:cubicBezTo>
                    <a:pt x="14464" y="3218907"/>
                    <a:pt x="0" y="3204443"/>
                    <a:pt x="0" y="3186601"/>
                  </a:cubicBezTo>
                  <a:lnTo>
                    <a:pt x="0" y="32306"/>
                  </a:lnTo>
                  <a:cubicBezTo>
                    <a:pt x="0" y="14464"/>
                    <a:pt x="14464" y="0"/>
                    <a:pt x="323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218907" cy="327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598493"/>
            <a:ext cx="6904931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6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 Math &amp; Funnel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195178"/>
            <a:ext cx="9960173" cy="494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Budget: 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$1,500/month.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Est. CPC: 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$5.00 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Est. Clicks: 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300.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 Rate: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5%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Projected Leads: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15.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Cost Per Lead (CPL): 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$100.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ROI: 1 sale = 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$3,000. Even if 3 leads buy, 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that's $9,000 in revenue from a $1,500 spend</a:t>
            </a:r>
            <a:r>
              <a:rPr lang="en-US" b="true" sz="3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83240">
            <a:off x="-693343" y="-1332601"/>
            <a:ext cx="12703748" cy="12781125"/>
            <a:chOff x="0" y="0"/>
            <a:chExt cx="3345843" cy="33662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5843" cy="3366222"/>
            </a:xfrm>
            <a:custGeom>
              <a:avLst/>
              <a:gdLst/>
              <a:ahLst/>
              <a:cxnLst/>
              <a:rect r="r" b="b" t="t" l="l"/>
              <a:pathLst>
                <a:path h="3366222" w="3345843">
                  <a:moveTo>
                    <a:pt x="31080" y="0"/>
                  </a:moveTo>
                  <a:lnTo>
                    <a:pt x="3314763" y="0"/>
                  </a:lnTo>
                  <a:cubicBezTo>
                    <a:pt x="3331928" y="0"/>
                    <a:pt x="3345843" y="13915"/>
                    <a:pt x="3345843" y="31080"/>
                  </a:cubicBezTo>
                  <a:lnTo>
                    <a:pt x="3345843" y="3335142"/>
                  </a:lnTo>
                  <a:cubicBezTo>
                    <a:pt x="3345843" y="3352307"/>
                    <a:pt x="3331928" y="3366222"/>
                    <a:pt x="3314763" y="3366222"/>
                  </a:cubicBezTo>
                  <a:lnTo>
                    <a:pt x="31080" y="3366222"/>
                  </a:lnTo>
                  <a:cubicBezTo>
                    <a:pt x="13915" y="3366222"/>
                    <a:pt x="0" y="3352307"/>
                    <a:pt x="0" y="3335142"/>
                  </a:cubicBezTo>
                  <a:lnTo>
                    <a:pt x="0" y="31080"/>
                  </a:lnTo>
                  <a:cubicBezTo>
                    <a:pt x="0" y="13915"/>
                    <a:pt x="13915" y="0"/>
                    <a:pt x="310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345843" cy="3423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80359">
            <a:off x="14325148" y="-5195693"/>
            <a:ext cx="12221786" cy="12221786"/>
            <a:chOff x="0" y="0"/>
            <a:chExt cx="3218907" cy="32189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8907" cy="3218907"/>
            </a:xfrm>
            <a:custGeom>
              <a:avLst/>
              <a:gdLst/>
              <a:ahLst/>
              <a:cxnLst/>
              <a:rect r="r" b="b" t="t" l="l"/>
              <a:pathLst>
                <a:path h="3218907" w="3218907">
                  <a:moveTo>
                    <a:pt x="32306" y="0"/>
                  </a:moveTo>
                  <a:lnTo>
                    <a:pt x="3186601" y="0"/>
                  </a:lnTo>
                  <a:cubicBezTo>
                    <a:pt x="3195169" y="0"/>
                    <a:pt x="3203386" y="3404"/>
                    <a:pt x="3209444" y="9462"/>
                  </a:cubicBezTo>
                  <a:cubicBezTo>
                    <a:pt x="3215503" y="15521"/>
                    <a:pt x="3218907" y="23738"/>
                    <a:pt x="3218907" y="32306"/>
                  </a:cubicBezTo>
                  <a:lnTo>
                    <a:pt x="3218907" y="3186601"/>
                  </a:lnTo>
                  <a:cubicBezTo>
                    <a:pt x="3218907" y="3204443"/>
                    <a:pt x="3204443" y="3218907"/>
                    <a:pt x="3186601" y="3218907"/>
                  </a:cubicBezTo>
                  <a:lnTo>
                    <a:pt x="32306" y="3218907"/>
                  </a:lnTo>
                  <a:cubicBezTo>
                    <a:pt x="14464" y="3218907"/>
                    <a:pt x="0" y="3204443"/>
                    <a:pt x="0" y="3186601"/>
                  </a:cubicBezTo>
                  <a:lnTo>
                    <a:pt x="0" y="32306"/>
                  </a:lnTo>
                  <a:cubicBezTo>
                    <a:pt x="0" y="14464"/>
                    <a:pt x="14464" y="0"/>
                    <a:pt x="323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218907" cy="327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16244" y="-703033"/>
            <a:ext cx="3086100" cy="11750777"/>
            <a:chOff x="0" y="0"/>
            <a:chExt cx="812800" cy="3094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3094855"/>
            </a:xfrm>
            <a:custGeom>
              <a:avLst/>
              <a:gdLst/>
              <a:ahLst/>
              <a:cxnLst/>
              <a:rect r="r" b="b" t="t" l="l"/>
              <a:pathLst>
                <a:path h="309485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66914"/>
                  </a:lnTo>
                  <a:cubicBezTo>
                    <a:pt x="812800" y="3000846"/>
                    <a:pt x="799321" y="3033388"/>
                    <a:pt x="775327" y="3057382"/>
                  </a:cubicBezTo>
                  <a:cubicBezTo>
                    <a:pt x="751333" y="3081375"/>
                    <a:pt x="718791" y="3094855"/>
                    <a:pt x="684859" y="3094855"/>
                  </a:cubicBezTo>
                  <a:lnTo>
                    <a:pt x="127941" y="3094855"/>
                  </a:lnTo>
                  <a:cubicBezTo>
                    <a:pt x="94009" y="3094855"/>
                    <a:pt x="61467" y="3081375"/>
                    <a:pt x="37473" y="3057382"/>
                  </a:cubicBezTo>
                  <a:cubicBezTo>
                    <a:pt x="13479" y="3033388"/>
                    <a:pt x="0" y="3000846"/>
                    <a:pt x="0" y="296691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315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41942">
            <a:off x="10376034" y="5396158"/>
            <a:ext cx="10019412" cy="1001941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204" y="19204"/>
              <a:ext cx="774393" cy="774393"/>
            </a:xfrm>
            <a:custGeom>
              <a:avLst/>
              <a:gdLst/>
              <a:ahLst/>
              <a:cxnLst/>
              <a:rect r="r" b="b" t="t" l="l"/>
              <a:pathLst>
                <a:path h="774393" w="774393">
                  <a:moveTo>
                    <a:pt x="419979" y="13579"/>
                  </a:moveTo>
                  <a:lnTo>
                    <a:pt x="760813" y="354413"/>
                  </a:lnTo>
                  <a:cubicBezTo>
                    <a:pt x="769508" y="363108"/>
                    <a:pt x="774392" y="374900"/>
                    <a:pt x="774392" y="387196"/>
                  </a:cubicBezTo>
                  <a:cubicBezTo>
                    <a:pt x="774392" y="399492"/>
                    <a:pt x="769508" y="411284"/>
                    <a:pt x="760813" y="419979"/>
                  </a:cubicBezTo>
                  <a:lnTo>
                    <a:pt x="419979" y="760813"/>
                  </a:lnTo>
                  <a:cubicBezTo>
                    <a:pt x="411284" y="769508"/>
                    <a:pt x="399492" y="774392"/>
                    <a:pt x="387196" y="774392"/>
                  </a:cubicBezTo>
                  <a:cubicBezTo>
                    <a:pt x="374900" y="774392"/>
                    <a:pt x="363108" y="769508"/>
                    <a:pt x="354413" y="760813"/>
                  </a:cubicBezTo>
                  <a:lnTo>
                    <a:pt x="13579" y="419979"/>
                  </a:lnTo>
                  <a:cubicBezTo>
                    <a:pt x="4884" y="411284"/>
                    <a:pt x="0" y="399492"/>
                    <a:pt x="0" y="387196"/>
                  </a:cubicBezTo>
                  <a:cubicBezTo>
                    <a:pt x="0" y="374900"/>
                    <a:pt x="4884" y="363108"/>
                    <a:pt x="13579" y="354413"/>
                  </a:cubicBezTo>
                  <a:lnTo>
                    <a:pt x="354413" y="13579"/>
                  </a:lnTo>
                  <a:cubicBezTo>
                    <a:pt x="363108" y="4884"/>
                    <a:pt x="374900" y="0"/>
                    <a:pt x="387196" y="0"/>
                  </a:cubicBezTo>
                  <a:cubicBezTo>
                    <a:pt x="399492" y="0"/>
                    <a:pt x="411284" y="4884"/>
                    <a:pt x="419979" y="13579"/>
                  </a:cubicBezTo>
                  <a:close/>
                </a:path>
              </a:pathLst>
            </a:custGeom>
            <a:blipFill>
              <a:blip r:embed="rId3"/>
              <a:stretch>
                <a:fillRect l="0" t="-24906" r="0" b="-24906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-2780359">
            <a:off x="18200732" y="-2628232"/>
            <a:ext cx="12221786" cy="12221786"/>
            <a:chOff x="0" y="0"/>
            <a:chExt cx="3218907" cy="32189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8907" cy="3218907"/>
            </a:xfrm>
            <a:custGeom>
              <a:avLst/>
              <a:gdLst/>
              <a:ahLst/>
              <a:cxnLst/>
              <a:rect r="r" b="b" t="t" l="l"/>
              <a:pathLst>
                <a:path h="3218907" w="3218907">
                  <a:moveTo>
                    <a:pt x="32306" y="0"/>
                  </a:moveTo>
                  <a:lnTo>
                    <a:pt x="3186601" y="0"/>
                  </a:lnTo>
                  <a:cubicBezTo>
                    <a:pt x="3195169" y="0"/>
                    <a:pt x="3203386" y="3404"/>
                    <a:pt x="3209444" y="9462"/>
                  </a:cubicBezTo>
                  <a:cubicBezTo>
                    <a:pt x="3215503" y="15521"/>
                    <a:pt x="3218907" y="23738"/>
                    <a:pt x="3218907" y="32306"/>
                  </a:cubicBezTo>
                  <a:lnTo>
                    <a:pt x="3218907" y="3186601"/>
                  </a:lnTo>
                  <a:cubicBezTo>
                    <a:pt x="3218907" y="3204443"/>
                    <a:pt x="3204443" y="3218907"/>
                    <a:pt x="3186601" y="3218907"/>
                  </a:cubicBezTo>
                  <a:lnTo>
                    <a:pt x="32306" y="3218907"/>
                  </a:lnTo>
                  <a:cubicBezTo>
                    <a:pt x="14464" y="3218907"/>
                    <a:pt x="0" y="3204443"/>
                    <a:pt x="0" y="3186601"/>
                  </a:cubicBezTo>
                  <a:lnTo>
                    <a:pt x="0" y="32306"/>
                  </a:lnTo>
                  <a:cubicBezTo>
                    <a:pt x="0" y="14464"/>
                    <a:pt x="14464" y="0"/>
                    <a:pt x="3230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218907" cy="327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611297"/>
            <a:ext cx="7660481" cy="88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</a:t>
            </a:r>
            <a:r>
              <a:rPr lang="en-US" b="true" sz="5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acking &amp; Optimization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007174"/>
            <a:ext cx="10317396" cy="450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would use Google Tag Manager t</a:t>
            </a: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track the PDF brochure download as the primary conversion.</a:t>
            </a:r>
          </a:p>
          <a:p>
            <a:pPr algn="just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would set up Call Tracking to see which keywords generate the most phone calls.</a:t>
            </a:r>
          </a:p>
          <a:p>
            <a:pPr algn="just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would optimize bids towards the Exact Match keywords that drive the most CPL.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DAHY7WBBhkc</dc:identifier>
  <dcterms:modified xsi:type="dcterms:W3CDTF">2011-08-01T06:04:30Z</dcterms:modified>
  <cp:revision>1</cp:revision>
  <dc:title>Google Search Ads: B2B Lead Gen Strategy</dc:title>
</cp:coreProperties>
</file>